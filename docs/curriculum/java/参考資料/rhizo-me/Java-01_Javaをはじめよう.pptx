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11"/>
  </p:notesMasterIdLst>
  <p:handoutMasterIdLst>
    <p:handoutMasterId r:id="rId12"/>
  </p:handoutMasterIdLst>
  <p:sldIdLst>
    <p:sldId id="382" r:id="rId2"/>
    <p:sldId id="256" r:id="rId3"/>
    <p:sldId id="360" r:id="rId4"/>
    <p:sldId id="361" r:id="rId5"/>
    <p:sldId id="362" r:id="rId6"/>
    <p:sldId id="363" r:id="rId7"/>
    <p:sldId id="364" r:id="rId8"/>
    <p:sldId id="365" r:id="rId9"/>
    <p:sldId id="366" r:id="rId10"/>
  </p:sldIdLst>
  <p:sldSz cx="9144000" cy="5143500" type="screen16x9"/>
  <p:notesSz cx="6858000" cy="9144000"/>
  <p:embeddedFontLst>
    <p:embeddedFont>
      <p:font typeface="MyricaM M" panose="020B0600070205080204" charset="-128"/>
      <p:regular r:id="rId13"/>
    </p:embeddedFont>
    <p:embeddedFont>
      <p:font typeface="BIZ UDゴシック" panose="020B0400000000000000" pitchFamily="49" charset="-128"/>
      <p:regular r:id="rId14"/>
      <p:bold r:id="rId15"/>
    </p:embeddedFont>
    <p:embeddedFont>
      <p:font typeface="Gill Sans Ultra Bold" panose="020B0A02020104020203" pitchFamily="34" charset="0"/>
      <p:regular r:id="rId16"/>
    </p:embeddedFont>
    <p:embeddedFont>
      <p:font typeface="Montserrat" panose="00000500000000000000" pitchFamily="2" charset="0"/>
      <p:regular r:id="rId17"/>
      <p:bold r:id="rId18"/>
      <p:italic r:id="rId19"/>
      <p:boldItalic r:id="rId20"/>
    </p:embeddedFont>
    <p:embeddedFont>
      <p:font typeface="游ゴシック" panose="020B0400000000000000" pitchFamily="50" charset="-128"/>
      <p:regular r:id="rId21"/>
      <p:bold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FF0000"/>
    <a:srgbClr val="FF9900"/>
    <a:srgbClr val="0000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446A59-EE0F-4185-A3B2-092F6C98FDAD}" v="6" dt="2021-12-06T06:40:57.490"/>
  </p1510:revLst>
</p1510:revInfo>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5" autoAdjust="0"/>
    <p:restoredTop sz="95728" autoAdjust="0"/>
  </p:normalViewPr>
  <p:slideViewPr>
    <p:cSldViewPr snapToGrid="0">
      <p:cViewPr varScale="1">
        <p:scale>
          <a:sx n="104" d="100"/>
          <a:sy n="104" d="100"/>
        </p:scale>
        <p:origin x="288"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microsoft.com/office/2016/11/relationships/changesInfo" Target="changesInfos/changesInfo1.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h_suzuki@rhizome01.onmicrosoft.com" userId="f68c5fd9-22d5-4c0a-9833-7fb0f5135313" providerId="ADAL" clId="{65446A59-EE0F-4185-A3B2-092F6C98FDAD}"/>
    <pc:docChg chg="modSld sldOrd">
      <pc:chgData name="h_suzuki@rhizome01.onmicrosoft.com" userId="f68c5fd9-22d5-4c0a-9833-7fb0f5135313" providerId="ADAL" clId="{65446A59-EE0F-4185-A3B2-092F6C98FDAD}" dt="2021-12-06T06:40:57.491" v="11"/>
      <pc:docMkLst>
        <pc:docMk/>
      </pc:docMkLst>
      <pc:sldChg chg="ord">
        <pc:chgData name="h_suzuki@rhizome01.onmicrosoft.com" userId="f68c5fd9-22d5-4c0a-9833-7fb0f5135313" providerId="ADAL" clId="{65446A59-EE0F-4185-A3B2-092F6C98FDAD}" dt="2021-12-06T06:40:57.491" v="11"/>
        <pc:sldMkLst>
          <pc:docMk/>
          <pc:sldMk cId="267129399" sldId="361"/>
        </pc:sldMkLst>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2-01T04:09:14.196" v="357" actId="6549"/>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modSp mod">
        <pc:chgData name="鈴木 秀規" userId="f68c5fd9-22d5-4c0a-9833-7fb0f5135313" providerId="ADAL" clId="{08638EF6-D777-4C0B-B3AC-F96EA920AE28}" dt="2021-02-01T04:07:46.799" v="273" actId="20577"/>
        <pc:sldMkLst>
          <pc:docMk/>
          <pc:sldMk cId="1668843990" sldId="360"/>
        </pc:sldMkLst>
        <pc:spChg chg="mod">
          <ac:chgData name="鈴木 秀規" userId="f68c5fd9-22d5-4c0a-9833-7fb0f5135313" providerId="ADAL" clId="{08638EF6-D777-4C0B-B3AC-F96EA920AE28}" dt="2021-02-01T04:07:46.799" v="273" actId="20577"/>
          <ac:spMkLst>
            <pc:docMk/>
            <pc:sldMk cId="1668843990" sldId="360"/>
            <ac:spMk id="9" creationId="{A4832727-EA7F-44D6-A9F2-E4AE0246960A}"/>
          </ac:spMkLst>
        </pc:spChg>
      </pc:sldChg>
      <pc:sldChg chg="modSp mod">
        <pc:chgData name="鈴木 秀規" userId="f68c5fd9-22d5-4c0a-9833-7fb0f5135313" providerId="ADAL" clId="{08638EF6-D777-4C0B-B3AC-F96EA920AE28}" dt="2021-02-01T04:09:14.196" v="357" actId="6549"/>
        <pc:sldMkLst>
          <pc:docMk/>
          <pc:sldMk cId="267129399" sldId="361"/>
        </pc:sldMkLst>
        <pc:spChg chg="mod">
          <ac:chgData name="鈴木 秀規" userId="f68c5fd9-22d5-4c0a-9833-7fb0f5135313" providerId="ADAL" clId="{08638EF6-D777-4C0B-B3AC-F96EA920AE28}" dt="2021-02-01T04:09:14.196" v="357" actId="6549"/>
          <ac:spMkLst>
            <pc:docMk/>
            <pc:sldMk cId="267129399" sldId="361"/>
            <ac:spMk id="6" creationId="{D0F3BEAC-A5EA-4EE4-95C7-0AEC1107FD29}"/>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営業サーバ" userId="c35045ed-c185-45de-8f58-be20a28877d8" providerId="ADAL" clId="{6E268DB6-D116-460C-BFE4-8A7F57BBDE56}"/>
    <pc:docChg chg="modSld">
      <pc:chgData name="営業サーバ" userId="c35045ed-c185-45de-8f58-be20a28877d8" providerId="ADAL" clId="{6E268DB6-D116-460C-BFE4-8A7F57BBDE56}" dt="2021-03-08T00:01:46.661" v="4" actId="113"/>
      <pc:docMkLst>
        <pc:docMk/>
      </pc:docMkLst>
      <pc:sldChg chg="modSp mod">
        <pc:chgData name="営業サーバ" userId="c35045ed-c185-45de-8f58-be20a28877d8" providerId="ADAL" clId="{6E268DB6-D116-460C-BFE4-8A7F57BBDE56}" dt="2021-03-08T00:01:46.661" v="4" actId="113"/>
        <pc:sldMkLst>
          <pc:docMk/>
          <pc:sldMk cId="1859091905" sldId="362"/>
        </pc:sldMkLst>
        <pc:spChg chg="mod">
          <ac:chgData name="営業サーバ" userId="c35045ed-c185-45de-8f58-be20a28877d8" providerId="ADAL" clId="{6E268DB6-D116-460C-BFE4-8A7F57BBDE56}" dt="2021-03-08T00:01:46.661" v="4" actId="113"/>
          <ac:spMkLst>
            <pc:docMk/>
            <pc:sldMk cId="1859091905" sldId="362"/>
            <ac:spMk id="8" creationId="{C57C43D1-E1C5-418D-A114-931FDA96CE3D}"/>
          </ac:spMkLst>
        </pc:spChg>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新井 誠也" userId="23aad332-58e4-4484-8a2a-113d49ccd3a7" providerId="ADAL" clId="{417DB244-BD6F-4E9F-AC0C-81B98868E8A8}"/>
    <pc:docChg chg="modSld">
      <pc:chgData name="新井 誠也" userId="23aad332-58e4-4484-8a2a-113d49ccd3a7" providerId="ADAL" clId="{417DB244-BD6F-4E9F-AC0C-81B98868E8A8}" dt="2021-03-03T06:23:17.225" v="36"/>
      <pc:docMkLst>
        <pc:docMk/>
      </pc:docMkLst>
      <pc:sldChg chg="modSp mod">
        <pc:chgData name="新井 誠也" userId="23aad332-58e4-4484-8a2a-113d49ccd3a7" providerId="ADAL" clId="{417DB244-BD6F-4E9F-AC0C-81B98868E8A8}" dt="2021-03-03T06:20:43.364" v="4" actId="20577"/>
        <pc:sldMkLst>
          <pc:docMk/>
          <pc:sldMk cId="1859091905" sldId="362"/>
        </pc:sldMkLst>
        <pc:spChg chg="mod">
          <ac:chgData name="新井 誠也" userId="23aad332-58e4-4484-8a2a-113d49ccd3a7" providerId="ADAL" clId="{417DB244-BD6F-4E9F-AC0C-81B98868E8A8}" dt="2021-03-03T06:20:43.364" v="4" actId="20577"/>
          <ac:spMkLst>
            <pc:docMk/>
            <pc:sldMk cId="1859091905" sldId="362"/>
            <ac:spMk id="8" creationId="{C57C43D1-E1C5-418D-A114-931FDA96CE3D}"/>
          </ac:spMkLst>
        </pc:spChg>
      </pc:sldChg>
      <pc:sldChg chg="modSp mod">
        <pc:chgData name="新井 誠也" userId="23aad332-58e4-4484-8a2a-113d49ccd3a7" providerId="ADAL" clId="{417DB244-BD6F-4E9F-AC0C-81B98868E8A8}" dt="2021-03-03T06:23:17.225" v="36"/>
        <pc:sldMkLst>
          <pc:docMk/>
          <pc:sldMk cId="2468282938" sldId="366"/>
        </pc:sldMkLst>
        <pc:spChg chg="mod">
          <ac:chgData name="新井 誠也" userId="23aad332-58e4-4484-8a2a-113d49ccd3a7" providerId="ADAL" clId="{417DB244-BD6F-4E9F-AC0C-81B98868E8A8}" dt="2021-03-03T06:23:17.225" v="36"/>
          <ac:spMkLst>
            <pc:docMk/>
            <pc:sldMk cId="2468282938" sldId="366"/>
            <ac:spMk id="7" creationId="{EAB6021F-3697-4137-B487-BDABD536A41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115648" cy="3150600"/>
          </a:xfrm>
        </p:spPr>
        <p:txBody>
          <a:bodyPr/>
          <a:lstStyle/>
          <a:p>
            <a:r>
              <a:rPr lang="en-US" altLang="ja-JP" dirty="0"/>
              <a:t>Java</a:t>
            </a:r>
            <a:r>
              <a:rPr lang="ja-JP" altLang="en-US" dirty="0"/>
              <a:t>をはじめよう</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プログラムとは何かを理解すること</a:t>
            </a:r>
          </a:p>
          <a:p>
            <a:pPr marL="444500" indent="-342900">
              <a:buFont typeface="+mj-lt"/>
              <a:buAutoNum type="arabicPeriod"/>
            </a:pPr>
            <a:r>
              <a:rPr lang="en-US" altLang="ja-JP" dirty="0"/>
              <a:t>Java</a:t>
            </a:r>
            <a:r>
              <a:rPr lang="ja-JP" altLang="en-US" dirty="0"/>
              <a:t>とは何かを理解すること</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プログラムとは</a:t>
            </a:r>
          </a:p>
          <a:p>
            <a:pPr marL="444500" indent="-342900">
              <a:buFont typeface="+mj-lt"/>
              <a:buAutoNum type="arabicPeriod"/>
            </a:pPr>
            <a:r>
              <a:rPr lang="en-US" altLang="ja-JP" dirty="0"/>
              <a:t>Java</a:t>
            </a:r>
            <a:r>
              <a:rPr lang="ja-JP" altLang="en-US" dirty="0"/>
              <a:t>とは</a:t>
            </a:r>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6DC238B-EE56-4E60-9254-5D7461C2FECA}"/>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58177CF6-E256-4D88-B489-5F2EFF09AC4C}"/>
              </a:ext>
            </a:extLst>
          </p:cNvPr>
          <p:cNvSpPr>
            <a:spLocks noGrp="1"/>
          </p:cNvSpPr>
          <p:nvPr>
            <p:ph type="ctrTitle"/>
          </p:nvPr>
        </p:nvSpPr>
        <p:spPr/>
        <p:txBody>
          <a:bodyPr/>
          <a:lstStyle/>
          <a:p>
            <a:r>
              <a:rPr lang="ja-JP" altLang="en-US" dirty="0"/>
              <a:t>プログラムって？</a:t>
            </a:r>
          </a:p>
        </p:txBody>
      </p:sp>
      <p:sp>
        <p:nvSpPr>
          <p:cNvPr id="5" name="スライド番号プレースホルダー 4">
            <a:extLst>
              <a:ext uri="{FF2B5EF4-FFF2-40B4-BE49-F238E27FC236}">
                <a16:creationId xmlns:a16="http://schemas.microsoft.com/office/drawing/2014/main" id="{CAF52E47-E0BD-4CE1-8C78-272007650A0D}"/>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8" name="テキスト プレースホルダー 7">
            <a:extLst>
              <a:ext uri="{FF2B5EF4-FFF2-40B4-BE49-F238E27FC236}">
                <a16:creationId xmlns:a16="http://schemas.microsoft.com/office/drawing/2014/main" id="{C57C43D1-E1C5-418D-A114-931FDA96CE3D}"/>
              </a:ext>
            </a:extLst>
          </p:cNvPr>
          <p:cNvSpPr>
            <a:spLocks noGrp="1"/>
          </p:cNvSpPr>
          <p:nvPr>
            <p:ph type="body" sz="quarter" idx="14"/>
          </p:nvPr>
        </p:nvSpPr>
        <p:spPr>
          <a:xfrm>
            <a:off x="462875" y="859491"/>
            <a:ext cx="5652175" cy="3924598"/>
          </a:xfrm>
        </p:spPr>
        <p:txBody>
          <a:bodyPr/>
          <a:lstStyle/>
          <a:p>
            <a:pPr marL="96838" indent="0">
              <a:buNone/>
            </a:pPr>
            <a:r>
              <a:rPr lang="ja-JP" altLang="en-US" dirty="0"/>
              <a:t>例えば、電源がＯＮになっているパソコンのキーボードで、「Ａ」というキーを押してみましょう。押す前のパソコンの状態によって「</a:t>
            </a:r>
            <a:r>
              <a:rPr lang="en-US" altLang="ja-JP" dirty="0"/>
              <a:t>a</a:t>
            </a:r>
            <a:r>
              <a:rPr lang="ja-JP" altLang="en-US" dirty="0"/>
              <a:t>」という文字が画面に出てくることもあるでしょうし、何も画面に出てこないこともあります。また、「</a:t>
            </a:r>
            <a:r>
              <a:rPr lang="en-US" altLang="ja-JP" dirty="0"/>
              <a:t>a</a:t>
            </a:r>
            <a:r>
              <a:rPr lang="ja-JP" altLang="en-US" dirty="0"/>
              <a:t>」ではなく、「あ」という文字が出てくることもありますし、場合によっては「ち」という文字が出てくることもあります。</a:t>
            </a:r>
          </a:p>
          <a:p>
            <a:pPr marL="96838" indent="0">
              <a:buNone/>
            </a:pPr>
            <a:r>
              <a:rPr lang="ja-JP" altLang="en-US" dirty="0"/>
              <a:t>コンピュータは単なる機械なので命令されなければ何もしません。 「Ａ」というキーを押したら画面に「</a:t>
            </a:r>
            <a:r>
              <a:rPr lang="en-US" altLang="ja-JP" dirty="0"/>
              <a:t>a</a:t>
            </a:r>
            <a:r>
              <a:rPr lang="ja-JP" altLang="en-US" dirty="0"/>
              <a:t>」という字を表示するのも、コンピュータにそういう</a:t>
            </a:r>
            <a:r>
              <a:rPr lang="ja-JP" altLang="en-US" b="1" dirty="0">
                <a:solidFill>
                  <a:srgbClr val="FF0000"/>
                </a:solidFill>
              </a:rPr>
              <a:t>命令をしている「モノ」</a:t>
            </a:r>
            <a:r>
              <a:rPr lang="ja-JP" altLang="en-US" dirty="0"/>
              <a:t>があるのです。そういう、コンピュータに命令を出す「モノ」のことを</a:t>
            </a:r>
            <a:r>
              <a:rPr lang="ja-JP" altLang="en-US" b="1" dirty="0">
                <a:solidFill>
                  <a:srgbClr val="FF0000"/>
                </a:solidFill>
              </a:rPr>
              <a:t>プログラム</a:t>
            </a:r>
            <a:r>
              <a:rPr lang="ja-JP" altLang="en-US" dirty="0"/>
              <a:t>といいます。</a:t>
            </a:r>
          </a:p>
          <a:p>
            <a:pPr marL="96838" indent="0">
              <a:buNone/>
            </a:pPr>
            <a:r>
              <a:rPr lang="en-US" altLang="ja-JP" dirty="0"/>
              <a:t>Windows</a:t>
            </a:r>
            <a:r>
              <a:rPr lang="ja-JP" altLang="en-US" dirty="0"/>
              <a:t>も、</a:t>
            </a:r>
            <a:r>
              <a:rPr lang="en-US" altLang="ja-JP" dirty="0"/>
              <a:t>Excel</a:t>
            </a:r>
            <a:r>
              <a:rPr lang="ja-JP" altLang="en-US" dirty="0"/>
              <a:t>も、ゲームソフトも、みんなプログラムです。</a:t>
            </a:r>
          </a:p>
        </p:txBody>
      </p:sp>
      <p:pic>
        <p:nvPicPr>
          <p:cNvPr id="9" name="Google Shape;95;p14">
            <a:extLst>
              <a:ext uri="{FF2B5EF4-FFF2-40B4-BE49-F238E27FC236}">
                <a16:creationId xmlns:a16="http://schemas.microsoft.com/office/drawing/2014/main" id="{BA5D05B1-6F0D-4655-AFC1-495F71BCF81C}"/>
              </a:ext>
            </a:extLst>
          </p:cNvPr>
          <p:cNvPicPr preferRelativeResize="0"/>
          <p:nvPr/>
        </p:nvPicPr>
        <p:blipFill rotWithShape="1">
          <a:blip r:embed="rId2">
            <a:alphaModFix/>
          </a:blip>
          <a:srcRect/>
          <a:stretch/>
        </p:blipFill>
        <p:spPr>
          <a:xfrm>
            <a:off x="6320335" y="739160"/>
            <a:ext cx="2340264" cy="2334040"/>
          </a:xfrm>
          <a:prstGeom prst="rect">
            <a:avLst/>
          </a:prstGeom>
          <a:noFill/>
          <a:ln>
            <a:noFill/>
          </a:ln>
        </p:spPr>
      </p:pic>
      <p:pic>
        <p:nvPicPr>
          <p:cNvPr id="10" name="Google Shape;96;p14">
            <a:extLst>
              <a:ext uri="{FF2B5EF4-FFF2-40B4-BE49-F238E27FC236}">
                <a16:creationId xmlns:a16="http://schemas.microsoft.com/office/drawing/2014/main" id="{899D8770-B1F7-436F-BE7F-0F92A7770FDF}"/>
              </a:ext>
            </a:extLst>
          </p:cNvPr>
          <p:cNvPicPr preferRelativeResize="0"/>
          <p:nvPr/>
        </p:nvPicPr>
        <p:blipFill rotWithShape="1">
          <a:blip r:embed="rId3">
            <a:alphaModFix/>
          </a:blip>
          <a:srcRect/>
          <a:stretch/>
        </p:blipFill>
        <p:spPr>
          <a:xfrm>
            <a:off x="6448503" y="2904299"/>
            <a:ext cx="2043642" cy="2043642"/>
          </a:xfrm>
          <a:prstGeom prst="rect">
            <a:avLst/>
          </a:prstGeom>
          <a:noFill/>
          <a:ln>
            <a:noFill/>
          </a:ln>
        </p:spPr>
      </p:pic>
    </p:spTree>
    <p:extLst>
      <p:ext uri="{BB962C8B-B14F-4D97-AF65-F5344CB8AC3E}">
        <p14:creationId xmlns:p14="http://schemas.microsoft.com/office/powerpoint/2010/main" val="1859091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C193896-D9E2-4434-8708-AA1313C54C7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640D129-B6CB-4C83-B970-246D59D57573}"/>
              </a:ext>
            </a:extLst>
          </p:cNvPr>
          <p:cNvSpPr>
            <a:spLocks noGrp="1"/>
          </p:cNvSpPr>
          <p:nvPr>
            <p:ph type="ctrTitle"/>
          </p:nvPr>
        </p:nvSpPr>
        <p:spPr/>
        <p:txBody>
          <a:bodyPr/>
          <a:lstStyle/>
          <a:p>
            <a:r>
              <a:rPr kumimoji="1" lang="ja-JP" altLang="en-US" dirty="0"/>
              <a:t>プログラミング言語って？</a:t>
            </a:r>
          </a:p>
        </p:txBody>
      </p:sp>
      <p:sp>
        <p:nvSpPr>
          <p:cNvPr id="4" name="スライド番号プレースホルダー 3">
            <a:extLst>
              <a:ext uri="{FF2B5EF4-FFF2-40B4-BE49-F238E27FC236}">
                <a16:creationId xmlns:a16="http://schemas.microsoft.com/office/drawing/2014/main" id="{D5363621-66F3-416A-97EC-9A81BE9E4271}"/>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5" name="テキスト プレースホルダー 4">
            <a:extLst>
              <a:ext uri="{FF2B5EF4-FFF2-40B4-BE49-F238E27FC236}">
                <a16:creationId xmlns:a16="http://schemas.microsoft.com/office/drawing/2014/main" id="{B57261C1-F514-40BE-AAF2-BA12D96EEC29}"/>
              </a:ext>
            </a:extLst>
          </p:cNvPr>
          <p:cNvSpPr>
            <a:spLocks noGrp="1"/>
          </p:cNvSpPr>
          <p:nvPr>
            <p:ph type="body" sz="quarter" idx="14"/>
          </p:nvPr>
        </p:nvSpPr>
        <p:spPr>
          <a:xfrm>
            <a:off x="462875" y="859491"/>
            <a:ext cx="8216900" cy="541192"/>
          </a:xfrm>
        </p:spPr>
        <p:txBody>
          <a:bodyPr/>
          <a:lstStyle/>
          <a:p>
            <a:pPr marL="96838" indent="0">
              <a:buNone/>
            </a:pPr>
            <a:r>
              <a:rPr kumimoji="1" lang="ja-JP" altLang="en-US" dirty="0"/>
              <a:t>「ＧＯ」と命令されると歩き出すように訓練された盲導犬は「進め」とか、「行け」と命令されても動きません。盲導犬への命令でも「ルール」があるのです。</a:t>
            </a:r>
          </a:p>
          <a:p>
            <a:pPr marL="96838" indent="0">
              <a:buNone/>
            </a:pPr>
            <a:endParaRPr kumimoji="1" lang="ja-JP" altLang="en-US" dirty="0"/>
          </a:p>
        </p:txBody>
      </p:sp>
      <p:pic>
        <p:nvPicPr>
          <p:cNvPr id="8" name="グラフィックス 7" descr="介助犬 単色塗りつぶし">
            <a:extLst>
              <a:ext uri="{FF2B5EF4-FFF2-40B4-BE49-F238E27FC236}">
                <a16:creationId xmlns:a16="http://schemas.microsoft.com/office/drawing/2014/main" id="{763A5F80-3D1F-4918-9FDD-53A678F1CC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3516630" y="1214131"/>
            <a:ext cx="1535258" cy="1292849"/>
          </a:xfrm>
          <a:prstGeom prst="rect">
            <a:avLst/>
          </a:prstGeom>
        </p:spPr>
      </p:pic>
      <p:sp>
        <p:nvSpPr>
          <p:cNvPr id="9" name="テキスト プレースホルダー 4">
            <a:extLst>
              <a:ext uri="{FF2B5EF4-FFF2-40B4-BE49-F238E27FC236}">
                <a16:creationId xmlns:a16="http://schemas.microsoft.com/office/drawing/2014/main" id="{E22A0353-8EA1-4FD8-A39C-49D9187B8256}"/>
              </a:ext>
            </a:extLst>
          </p:cNvPr>
          <p:cNvSpPr txBox="1">
            <a:spLocks/>
          </p:cNvSpPr>
          <p:nvPr/>
        </p:nvSpPr>
        <p:spPr>
          <a:xfrm>
            <a:off x="462875" y="2296510"/>
            <a:ext cx="8216900" cy="106391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コンピュータは命令されたことは非常に高速にしかも正確に処理しますが、命令自体がいい加減だと当然動きません。そのため、命令には非常に細かいルールが決められています。そのルールのことをプログラミング言語といいます。</a:t>
            </a:r>
          </a:p>
          <a:p>
            <a:pPr marL="96838" indent="0">
              <a:buFont typeface="Arial" panose="020B0604020202020204" pitchFamily="34" charset="0"/>
              <a:buNone/>
            </a:pPr>
            <a:r>
              <a:rPr lang="ja-JP" altLang="en-US" dirty="0"/>
              <a:t>コンピュータの世界ではプログラミング言語がとてもたくさんあります。</a:t>
            </a:r>
          </a:p>
        </p:txBody>
      </p:sp>
      <p:pic>
        <p:nvPicPr>
          <p:cNvPr id="10" name="Google Shape;104;p15">
            <a:extLst>
              <a:ext uri="{FF2B5EF4-FFF2-40B4-BE49-F238E27FC236}">
                <a16:creationId xmlns:a16="http://schemas.microsoft.com/office/drawing/2014/main" id="{FBDEFDB1-0089-42FD-AE86-6574A2FA16DF}"/>
              </a:ext>
            </a:extLst>
          </p:cNvPr>
          <p:cNvPicPr preferRelativeResize="0"/>
          <p:nvPr/>
        </p:nvPicPr>
        <p:blipFill rotWithShape="1">
          <a:blip r:embed="rId4">
            <a:alphaModFix/>
          </a:blip>
          <a:srcRect/>
          <a:stretch/>
        </p:blipFill>
        <p:spPr>
          <a:xfrm>
            <a:off x="685799" y="3253740"/>
            <a:ext cx="2000659" cy="1553686"/>
          </a:xfrm>
          <a:prstGeom prst="rect">
            <a:avLst/>
          </a:prstGeom>
          <a:noFill/>
          <a:ln>
            <a:noFill/>
          </a:ln>
        </p:spPr>
      </p:pic>
      <p:pic>
        <p:nvPicPr>
          <p:cNvPr id="11" name="Google Shape;105;p15">
            <a:extLst>
              <a:ext uri="{FF2B5EF4-FFF2-40B4-BE49-F238E27FC236}">
                <a16:creationId xmlns:a16="http://schemas.microsoft.com/office/drawing/2014/main" id="{05719BC9-65AB-4C7B-9FC7-0A3C1B55521D}"/>
              </a:ext>
            </a:extLst>
          </p:cNvPr>
          <p:cNvPicPr preferRelativeResize="0"/>
          <p:nvPr/>
        </p:nvPicPr>
        <p:blipFill rotWithShape="1">
          <a:blip r:embed="rId5">
            <a:alphaModFix/>
          </a:blip>
          <a:srcRect/>
          <a:stretch/>
        </p:blipFill>
        <p:spPr>
          <a:xfrm>
            <a:off x="2908892" y="3342652"/>
            <a:ext cx="2503170" cy="1340065"/>
          </a:xfrm>
          <a:prstGeom prst="rect">
            <a:avLst/>
          </a:prstGeom>
          <a:noFill/>
          <a:ln>
            <a:noFill/>
          </a:ln>
        </p:spPr>
      </p:pic>
      <p:pic>
        <p:nvPicPr>
          <p:cNvPr id="12" name="Google Shape;106;p15">
            <a:extLst>
              <a:ext uri="{FF2B5EF4-FFF2-40B4-BE49-F238E27FC236}">
                <a16:creationId xmlns:a16="http://schemas.microsoft.com/office/drawing/2014/main" id="{860637D5-85A1-4BFF-AD71-F43936BDB20B}"/>
              </a:ext>
            </a:extLst>
          </p:cNvPr>
          <p:cNvPicPr preferRelativeResize="0"/>
          <p:nvPr/>
        </p:nvPicPr>
        <p:blipFill rotWithShape="1">
          <a:blip r:embed="rId6">
            <a:alphaModFix/>
          </a:blip>
          <a:srcRect/>
          <a:stretch/>
        </p:blipFill>
        <p:spPr>
          <a:xfrm>
            <a:off x="5634497" y="3463765"/>
            <a:ext cx="3153215" cy="1133633"/>
          </a:xfrm>
          <a:prstGeom prst="rect">
            <a:avLst/>
          </a:prstGeom>
          <a:noFill/>
          <a:ln>
            <a:noFill/>
          </a:ln>
        </p:spPr>
      </p:pic>
    </p:spTree>
    <p:extLst>
      <p:ext uri="{BB962C8B-B14F-4D97-AF65-F5344CB8AC3E}">
        <p14:creationId xmlns:p14="http://schemas.microsoft.com/office/powerpoint/2010/main" val="2364365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B861BD2-C835-4E65-B0E1-370BBE81593A}"/>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4DA3833-1318-40D9-AD12-6A36AD1AFCBA}"/>
              </a:ext>
            </a:extLst>
          </p:cNvPr>
          <p:cNvSpPr>
            <a:spLocks noGrp="1"/>
          </p:cNvSpPr>
          <p:nvPr>
            <p:ph type="ctrTitle"/>
          </p:nvPr>
        </p:nvSpPr>
        <p:spPr/>
        <p:txBody>
          <a:bodyPr/>
          <a:lstStyle/>
          <a:p>
            <a:r>
              <a:rPr kumimoji="1" lang="en-US" altLang="ja-JP" dirty="0"/>
              <a:t>Java</a:t>
            </a:r>
            <a:r>
              <a:rPr kumimoji="1" lang="ja-JP" altLang="en-US" dirty="0"/>
              <a:t>って？</a:t>
            </a:r>
          </a:p>
        </p:txBody>
      </p:sp>
      <p:sp>
        <p:nvSpPr>
          <p:cNvPr id="4" name="スライド番号プレースホルダー 3">
            <a:extLst>
              <a:ext uri="{FF2B5EF4-FFF2-40B4-BE49-F238E27FC236}">
                <a16:creationId xmlns:a16="http://schemas.microsoft.com/office/drawing/2014/main" id="{015E03AA-AAF3-453A-A4CD-9EC4B820A57E}"/>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3EDB9DE5-251B-463B-B6D4-B3B16D2E8021}"/>
              </a:ext>
            </a:extLst>
          </p:cNvPr>
          <p:cNvSpPr>
            <a:spLocks noGrp="1"/>
          </p:cNvSpPr>
          <p:nvPr>
            <p:ph type="body" sz="quarter" idx="14"/>
          </p:nvPr>
        </p:nvSpPr>
        <p:spPr>
          <a:xfrm>
            <a:off x="462875" y="859491"/>
            <a:ext cx="5884585" cy="3924598"/>
          </a:xfrm>
        </p:spPr>
        <p:txBody>
          <a:bodyPr/>
          <a:lstStyle/>
          <a:p>
            <a:pPr marL="96838" indent="0">
              <a:buNone/>
            </a:pPr>
            <a:r>
              <a:rPr kumimoji="1" lang="en-US" altLang="ja-JP" dirty="0"/>
              <a:t>Java</a:t>
            </a:r>
            <a:r>
              <a:rPr kumimoji="1" lang="ja-JP" altLang="en-US" dirty="0"/>
              <a:t>は</a:t>
            </a:r>
            <a:r>
              <a:rPr kumimoji="1" lang="en-US" altLang="ja-JP" dirty="0"/>
              <a:t>1995</a:t>
            </a:r>
            <a:r>
              <a:rPr kumimoji="1" lang="ja-JP" altLang="en-US" dirty="0"/>
              <a:t>年にアメリカ・</a:t>
            </a:r>
            <a:r>
              <a:rPr kumimoji="1" lang="en-US" altLang="ja-JP" dirty="0"/>
              <a:t>Sun Microsystems</a:t>
            </a:r>
            <a:r>
              <a:rPr kumimoji="1" lang="ja-JP" altLang="en-US" dirty="0"/>
              <a:t>社から発表されたプログラミング言語です。</a:t>
            </a:r>
          </a:p>
          <a:p>
            <a:pPr marL="96838" indent="0">
              <a:buNone/>
            </a:pPr>
            <a:r>
              <a:rPr kumimoji="1" lang="en-US" altLang="ja-JP" dirty="0"/>
              <a:t>Java</a:t>
            </a:r>
            <a:r>
              <a:rPr kumimoji="1" lang="ja-JP" altLang="en-US" dirty="0"/>
              <a:t>が生まれたきっかけは家電製品に組み込むシステム用のプログラムを作るための言語を作ることでした。</a:t>
            </a:r>
            <a:br>
              <a:rPr kumimoji="1" lang="ja-JP" altLang="en-US" dirty="0"/>
            </a:br>
            <a:r>
              <a:rPr kumimoji="1" lang="ja-JP" altLang="en-US" dirty="0"/>
              <a:t>しかし、当初はこの考え方は世間になかなか受け入れられず、プロジェクトは頓挫します。</a:t>
            </a:r>
          </a:p>
          <a:p>
            <a:pPr marL="96838" indent="0">
              <a:buNone/>
            </a:pPr>
            <a:r>
              <a:rPr kumimoji="1" lang="en-US" altLang="ja-JP" dirty="0"/>
              <a:t>Java</a:t>
            </a:r>
            <a:r>
              <a:rPr kumimoji="1" lang="ja-JP" altLang="en-US" dirty="0"/>
              <a:t>開発のプロジェクトが再度始動したのは当時一般的になってきたインターネットやウェブを利用できると考えたからです。</a:t>
            </a:r>
          </a:p>
          <a:p>
            <a:pPr marL="96838" indent="0">
              <a:buNone/>
            </a:pPr>
            <a:r>
              <a:rPr kumimoji="1" lang="ja-JP" altLang="en-US" dirty="0"/>
              <a:t>アプレットという、ブラウザ上で動く小さなプログラムは大きなコンピュータでもパソコンのような小さいコンピュータでも、さらには携帯電話の中でも動く、ということで大変注目を浴びました。</a:t>
            </a:r>
          </a:p>
          <a:p>
            <a:pPr marL="96838" indent="0">
              <a:buNone/>
            </a:pPr>
            <a:r>
              <a:rPr kumimoji="1" lang="ja-JP" altLang="en-US" dirty="0"/>
              <a:t>現在、</a:t>
            </a:r>
            <a:r>
              <a:rPr kumimoji="1" lang="en-US" altLang="ja-JP" dirty="0"/>
              <a:t>Java</a:t>
            </a:r>
            <a:r>
              <a:rPr kumimoji="1" lang="ja-JP" altLang="en-US" dirty="0"/>
              <a:t>は最も人気のあるプログラミング言語の１つになっています。また、 </a:t>
            </a:r>
            <a:r>
              <a:rPr kumimoji="1" lang="en-US" altLang="ja-JP" dirty="0"/>
              <a:t>Sun Microsystems</a:t>
            </a:r>
            <a:r>
              <a:rPr kumimoji="1" lang="ja-JP" altLang="en-US" dirty="0"/>
              <a:t>社は</a:t>
            </a:r>
            <a:r>
              <a:rPr kumimoji="1" lang="en-US" altLang="ja-JP" dirty="0"/>
              <a:t>Oracle</a:t>
            </a:r>
            <a:r>
              <a:rPr kumimoji="1" lang="ja-JP" altLang="en-US" dirty="0"/>
              <a:t>社に買収され、現在は</a:t>
            </a:r>
            <a:r>
              <a:rPr kumimoji="1" lang="en-US" altLang="ja-JP" dirty="0"/>
              <a:t>Oracle</a:t>
            </a:r>
            <a:r>
              <a:rPr kumimoji="1" lang="ja-JP" altLang="en-US" dirty="0"/>
              <a:t>が</a:t>
            </a:r>
            <a:r>
              <a:rPr kumimoji="1" lang="en-US" altLang="ja-JP" dirty="0"/>
              <a:t>Java</a:t>
            </a:r>
            <a:r>
              <a:rPr kumimoji="1" lang="ja-JP" altLang="en-US" dirty="0"/>
              <a:t>を管理しています。</a:t>
            </a:r>
          </a:p>
          <a:p>
            <a:pPr marL="96838" indent="0">
              <a:buNone/>
            </a:pPr>
            <a:endParaRPr kumimoji="1" lang="ja-JP" altLang="en-US" dirty="0"/>
          </a:p>
        </p:txBody>
      </p:sp>
      <p:pic>
        <p:nvPicPr>
          <p:cNvPr id="6" name="Google Shape;116;p16">
            <a:extLst>
              <a:ext uri="{FF2B5EF4-FFF2-40B4-BE49-F238E27FC236}">
                <a16:creationId xmlns:a16="http://schemas.microsoft.com/office/drawing/2014/main" id="{58B423EC-130A-4687-A843-790DB5B5F07B}"/>
              </a:ext>
            </a:extLst>
          </p:cNvPr>
          <p:cNvPicPr preferRelativeResize="0"/>
          <p:nvPr/>
        </p:nvPicPr>
        <p:blipFill rotWithShape="1">
          <a:blip r:embed="rId2">
            <a:alphaModFix/>
          </a:blip>
          <a:srcRect/>
          <a:stretch/>
        </p:blipFill>
        <p:spPr>
          <a:xfrm>
            <a:off x="6759431" y="1015743"/>
            <a:ext cx="1681907" cy="3363814"/>
          </a:xfrm>
          <a:prstGeom prst="rect">
            <a:avLst/>
          </a:prstGeom>
          <a:noFill/>
          <a:ln>
            <a:noFill/>
          </a:ln>
        </p:spPr>
      </p:pic>
    </p:spTree>
    <p:extLst>
      <p:ext uri="{BB962C8B-B14F-4D97-AF65-F5344CB8AC3E}">
        <p14:creationId xmlns:p14="http://schemas.microsoft.com/office/powerpoint/2010/main" val="2741627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A05DCAD-7FE5-4D6F-9219-51C493D0FE2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7622962-8E8E-4B0A-B95C-5C847044E3A9}"/>
              </a:ext>
            </a:extLst>
          </p:cNvPr>
          <p:cNvSpPr>
            <a:spLocks noGrp="1"/>
          </p:cNvSpPr>
          <p:nvPr>
            <p:ph type="ctrTitle"/>
          </p:nvPr>
        </p:nvSpPr>
        <p:spPr/>
        <p:txBody>
          <a:bodyPr/>
          <a:lstStyle/>
          <a:p>
            <a:r>
              <a:rPr kumimoji="1" lang="en-US" altLang="ja-JP" dirty="0"/>
              <a:t>Java</a:t>
            </a:r>
            <a:r>
              <a:rPr kumimoji="1" lang="ja-JP" altLang="en-US" dirty="0"/>
              <a:t>の特徴</a:t>
            </a:r>
          </a:p>
        </p:txBody>
      </p:sp>
      <p:sp>
        <p:nvSpPr>
          <p:cNvPr id="4" name="スライド番号プレースホルダー 3">
            <a:extLst>
              <a:ext uri="{FF2B5EF4-FFF2-40B4-BE49-F238E27FC236}">
                <a16:creationId xmlns:a16="http://schemas.microsoft.com/office/drawing/2014/main" id="{B0723E19-A440-4A78-9A5F-FA2DDF0E7270}"/>
              </a:ext>
            </a:extLst>
          </p:cNvPr>
          <p:cNvSpPr>
            <a:spLocks noGrp="1"/>
          </p:cNvSpPr>
          <p:nvPr>
            <p:ph type="sldNum" sz="quarter" idx="4"/>
          </p:nvPr>
        </p:nvSpPr>
        <p:spPr/>
        <p:txBody>
          <a:bodyPr/>
          <a:lstStyle/>
          <a:p>
            <a:fld id="{00000000-1234-1234-1234-123412341234}" type="slidenum">
              <a:rPr lang="en" smtClean="0"/>
              <a:pPr/>
              <a:t>7</a:t>
            </a:fld>
            <a:endParaRPr lang="en" dirty="0"/>
          </a:p>
        </p:txBody>
      </p:sp>
      <p:sp>
        <p:nvSpPr>
          <p:cNvPr id="5" name="テキスト プレースホルダー 4">
            <a:extLst>
              <a:ext uri="{FF2B5EF4-FFF2-40B4-BE49-F238E27FC236}">
                <a16:creationId xmlns:a16="http://schemas.microsoft.com/office/drawing/2014/main" id="{D828DF36-6DEE-4664-A888-D5E7FA24C8BF}"/>
              </a:ext>
            </a:extLst>
          </p:cNvPr>
          <p:cNvSpPr>
            <a:spLocks noGrp="1"/>
          </p:cNvSpPr>
          <p:nvPr>
            <p:ph type="body" sz="quarter" idx="14"/>
          </p:nvPr>
        </p:nvSpPr>
        <p:spPr/>
        <p:txBody>
          <a:bodyPr/>
          <a:lstStyle/>
          <a:p>
            <a:pPr marL="96838" indent="0">
              <a:buNone/>
            </a:pPr>
            <a:r>
              <a:rPr kumimoji="1" lang="en-US" altLang="ja-JP" dirty="0"/>
              <a:t>Java</a:t>
            </a:r>
            <a:r>
              <a:rPr kumimoji="1" lang="ja-JP" altLang="en-US" dirty="0"/>
              <a:t>には以下のような特徴があります。</a:t>
            </a:r>
          </a:p>
          <a:p>
            <a:pPr lvl="1">
              <a:lnSpc>
                <a:spcPct val="200000"/>
              </a:lnSpc>
            </a:pPr>
            <a:r>
              <a:rPr kumimoji="1" lang="ja-JP" altLang="en-US" sz="1600" b="1" dirty="0">
                <a:solidFill>
                  <a:schemeClr val="accent1"/>
                </a:solidFill>
              </a:rPr>
              <a:t>学びやすい文法</a:t>
            </a:r>
          </a:p>
          <a:p>
            <a:pPr lvl="1">
              <a:lnSpc>
                <a:spcPct val="200000"/>
              </a:lnSpc>
            </a:pPr>
            <a:r>
              <a:rPr kumimoji="1" lang="ja-JP" altLang="en-US" sz="1600" b="1" dirty="0">
                <a:solidFill>
                  <a:schemeClr val="accent1"/>
                </a:solidFill>
              </a:rPr>
              <a:t>オブジェクト指向に対応</a:t>
            </a:r>
          </a:p>
          <a:p>
            <a:pPr lvl="1">
              <a:lnSpc>
                <a:spcPct val="200000"/>
              </a:lnSpc>
            </a:pPr>
            <a:r>
              <a:rPr kumimoji="1" lang="ja-JP" altLang="en-US" sz="1600" b="1" dirty="0">
                <a:solidFill>
                  <a:schemeClr val="accent1"/>
                </a:solidFill>
              </a:rPr>
              <a:t>豊富に準備された命令</a:t>
            </a:r>
          </a:p>
          <a:p>
            <a:pPr lvl="1">
              <a:lnSpc>
                <a:spcPct val="200000"/>
              </a:lnSpc>
            </a:pPr>
            <a:r>
              <a:rPr kumimoji="1" lang="ja-JP" altLang="en-US" sz="1600" b="1" dirty="0">
                <a:solidFill>
                  <a:schemeClr val="accent1"/>
                </a:solidFill>
              </a:rPr>
              <a:t>多様なコンピュータで同じように動作</a:t>
            </a:r>
          </a:p>
          <a:p>
            <a:pPr marL="96838" indent="0">
              <a:buNone/>
            </a:pPr>
            <a:r>
              <a:rPr kumimoji="1" lang="ja-JP" altLang="en-US" dirty="0"/>
              <a:t>今の段階ではこれらの意味がよく分からないと思います。</a:t>
            </a:r>
          </a:p>
          <a:p>
            <a:pPr marL="96838" indent="0">
              <a:buNone/>
            </a:pPr>
            <a:r>
              <a:rPr kumimoji="1" lang="ja-JP" altLang="en-US" dirty="0"/>
              <a:t>今はまだ分からなくても全く問題ありません。</a:t>
            </a:r>
          </a:p>
          <a:p>
            <a:pPr marL="96838" indent="0">
              <a:buNone/>
            </a:pPr>
            <a:r>
              <a:rPr kumimoji="1" lang="en-US" altLang="ja-JP" dirty="0"/>
              <a:t>Java</a:t>
            </a:r>
            <a:r>
              <a:rPr kumimoji="1" lang="ja-JP" altLang="en-US" dirty="0"/>
              <a:t>の勉強が進んだあと、もう一度このような特徴がある、ということを思い返していただければそれで十分です。</a:t>
            </a:r>
          </a:p>
          <a:p>
            <a:pPr marL="96838" indent="0">
              <a:buNone/>
            </a:pPr>
            <a:endParaRPr kumimoji="1" lang="ja-JP" altLang="en-US" dirty="0"/>
          </a:p>
        </p:txBody>
      </p:sp>
    </p:spTree>
    <p:extLst>
      <p:ext uri="{BB962C8B-B14F-4D97-AF65-F5344CB8AC3E}">
        <p14:creationId xmlns:p14="http://schemas.microsoft.com/office/powerpoint/2010/main" val="2463410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6E5AEB6-5921-4F61-9A92-C8F47A6E218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DCF72238-40A0-49B2-BCDA-0F4FC7B049CE}"/>
              </a:ext>
            </a:extLst>
          </p:cNvPr>
          <p:cNvSpPr>
            <a:spLocks noGrp="1"/>
          </p:cNvSpPr>
          <p:nvPr>
            <p:ph type="ctrTitle"/>
          </p:nvPr>
        </p:nvSpPr>
        <p:spPr/>
        <p:txBody>
          <a:bodyPr/>
          <a:lstStyle/>
          <a:p>
            <a:r>
              <a:rPr kumimoji="1" lang="en-US" altLang="ja-JP" dirty="0"/>
              <a:t>Java</a:t>
            </a:r>
            <a:r>
              <a:rPr kumimoji="1" lang="ja-JP" altLang="en-US" dirty="0"/>
              <a:t>って？</a:t>
            </a:r>
          </a:p>
        </p:txBody>
      </p:sp>
      <p:sp>
        <p:nvSpPr>
          <p:cNvPr id="4" name="スライド番号プレースホルダー 3">
            <a:extLst>
              <a:ext uri="{FF2B5EF4-FFF2-40B4-BE49-F238E27FC236}">
                <a16:creationId xmlns:a16="http://schemas.microsoft.com/office/drawing/2014/main" id="{1C79A372-6E8C-4F0F-9C0E-02A5D863278F}"/>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74B6BD97-612C-4CA8-8A5C-7C81E7891880}"/>
              </a:ext>
            </a:extLst>
          </p:cNvPr>
          <p:cNvSpPr>
            <a:spLocks noGrp="1"/>
          </p:cNvSpPr>
          <p:nvPr>
            <p:ph type="body" sz="quarter" idx="14"/>
          </p:nvPr>
        </p:nvSpPr>
        <p:spPr>
          <a:xfrm>
            <a:off x="462875" y="859491"/>
            <a:ext cx="8216900" cy="336849"/>
          </a:xfrm>
        </p:spPr>
        <p:txBody>
          <a:bodyPr/>
          <a:lstStyle/>
          <a:p>
            <a:pPr marL="96838" indent="0">
              <a:buNone/>
            </a:pPr>
            <a:r>
              <a:rPr kumimoji="1" lang="ja-JP" altLang="en-US" dirty="0"/>
              <a:t>それでは</a:t>
            </a:r>
            <a:r>
              <a:rPr kumimoji="1" lang="en-US" altLang="ja-JP" dirty="0"/>
              <a:t>Java</a:t>
            </a:r>
            <a:r>
              <a:rPr kumimoji="1" lang="ja-JP" altLang="en-US" dirty="0"/>
              <a:t>のプログラムのサンプルを見てみましょう。</a:t>
            </a:r>
          </a:p>
        </p:txBody>
      </p:sp>
      <p:sp>
        <p:nvSpPr>
          <p:cNvPr id="6" name="テキスト プレースホルダー 4">
            <a:extLst>
              <a:ext uri="{FF2B5EF4-FFF2-40B4-BE49-F238E27FC236}">
                <a16:creationId xmlns:a16="http://schemas.microsoft.com/office/drawing/2014/main" id="{71674804-97F6-4D1A-B06A-C8494D885214}"/>
              </a:ext>
            </a:extLst>
          </p:cNvPr>
          <p:cNvSpPr txBox="1">
            <a:spLocks/>
          </p:cNvSpPr>
          <p:nvPr/>
        </p:nvSpPr>
        <p:spPr>
          <a:xfrm>
            <a:off x="1230629" y="1196340"/>
            <a:ext cx="6682741" cy="218728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Welcome{</a:t>
            </a:r>
          </a:p>
          <a:p>
            <a:pPr marL="96838" indent="0">
              <a:buFont typeface="Arial" panose="020B0604020202020204" pitchFamily="34" charset="0"/>
              <a:buNone/>
            </a:pPr>
            <a:r>
              <a:rPr lang="en-US" altLang="ja-JP" dirty="0"/>
              <a:t>    public static void main(String[] </a:t>
            </a:r>
            <a:r>
              <a:rPr lang="en-US" altLang="ja-JP" dirty="0" err="1"/>
              <a:t>args</a:t>
            </a:r>
            <a:r>
              <a:rPr lang="en-US" altLang="ja-JP" dirty="0"/>
              <a:t>){</a:t>
            </a:r>
          </a:p>
          <a:p>
            <a:pPr marL="96838" indent="0">
              <a:buFont typeface="Arial" panose="020B0604020202020204" pitchFamily="34" charset="0"/>
              <a:buNone/>
            </a:pPr>
            <a:r>
              <a:rPr lang="en-US" altLang="ja-JP" dirty="0"/>
              <a:t>        </a:t>
            </a:r>
            <a:r>
              <a:rPr lang="en-US" altLang="ja-JP" dirty="0" err="1"/>
              <a:t>System.out.println</a:t>
            </a:r>
            <a:r>
              <a:rPr lang="en-US" altLang="ja-JP" dirty="0"/>
              <a:t>("Java</a:t>
            </a:r>
            <a:r>
              <a:rPr lang="ja-JP" altLang="en-US" dirty="0"/>
              <a:t>の世界へようこそ！</a:t>
            </a:r>
            <a:r>
              <a:rPr lang="en-US" altLang="ja-JP" dirty="0"/>
              <a:t>");</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ja-JP" altLang="en-US" dirty="0"/>
              <a:t>こんな難しい計算もカンタンです！！</a:t>
            </a:r>
            <a:r>
              <a:rPr lang="en-US" altLang="ja-JP" dirty="0"/>
              <a:t>");</a:t>
            </a:r>
          </a:p>
          <a:p>
            <a:pPr marL="96838" indent="0">
              <a:buFont typeface="Arial" panose="020B0604020202020204" pitchFamily="34" charset="0"/>
              <a:buNone/>
            </a:pPr>
            <a:r>
              <a:rPr lang="en-US" altLang="ja-JP" dirty="0"/>
              <a:t>        </a:t>
            </a:r>
            <a:r>
              <a:rPr lang="en-US" altLang="ja-JP" dirty="0" err="1"/>
              <a:t>System.out.print</a:t>
            </a:r>
            <a:r>
              <a:rPr lang="en-US" altLang="ja-JP" dirty="0"/>
              <a:t>("</a:t>
            </a:r>
            <a:r>
              <a:rPr lang="ja-JP" altLang="en-US" dirty="0"/>
              <a:t>４＋５</a:t>
            </a:r>
            <a:r>
              <a:rPr lang="en-US" altLang="ja-JP" dirty="0"/>
              <a:t>×</a:t>
            </a:r>
            <a:r>
              <a:rPr lang="ja-JP" altLang="en-US" dirty="0"/>
              <a:t>６－１２３</a:t>
            </a:r>
            <a:r>
              <a:rPr lang="en-US" altLang="ja-JP" dirty="0"/>
              <a:t>÷</a:t>
            </a:r>
            <a:r>
              <a:rPr lang="ja-JP" altLang="en-US" dirty="0"/>
              <a:t>３＝</a:t>
            </a:r>
            <a:r>
              <a:rPr lang="en-US" altLang="ja-JP" dirty="0"/>
              <a:t>");</a:t>
            </a:r>
          </a:p>
          <a:p>
            <a:pPr marL="96838" indent="0">
              <a:buFont typeface="Arial" panose="020B0604020202020204" pitchFamily="34" charset="0"/>
              <a:buNone/>
            </a:pPr>
            <a:r>
              <a:rPr lang="en-US" altLang="ja-JP" dirty="0"/>
              <a:t>        </a:t>
            </a:r>
            <a:r>
              <a:rPr lang="en-US" altLang="ja-JP" dirty="0" err="1"/>
              <a:t>System.out.println</a:t>
            </a:r>
            <a:r>
              <a:rPr lang="en-US" altLang="ja-JP" dirty="0"/>
              <a:t>(4 + 5 * 6 - 123 / 3); </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a:t>
            </a:r>
          </a:p>
        </p:txBody>
      </p:sp>
      <p:sp>
        <p:nvSpPr>
          <p:cNvPr id="7" name="テキスト プレースホルダー 4">
            <a:extLst>
              <a:ext uri="{FF2B5EF4-FFF2-40B4-BE49-F238E27FC236}">
                <a16:creationId xmlns:a16="http://schemas.microsoft.com/office/drawing/2014/main" id="{EAB6021F-3697-4137-B487-BDABD536A412}"/>
              </a:ext>
            </a:extLst>
          </p:cNvPr>
          <p:cNvSpPr txBox="1">
            <a:spLocks/>
          </p:cNvSpPr>
          <p:nvPr/>
        </p:nvSpPr>
        <p:spPr>
          <a:xfrm>
            <a:off x="462875" y="3383620"/>
            <a:ext cx="8216900" cy="33684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それ</a:t>
            </a:r>
            <a:r>
              <a:rPr lang="ja-JP" altLang="en-US"/>
              <a:t>ではサンプルの実行結果を見てみましょう。</a:t>
            </a:r>
            <a:endParaRPr lang="ja-JP" altLang="en-US" dirty="0"/>
          </a:p>
        </p:txBody>
      </p:sp>
      <p:sp>
        <p:nvSpPr>
          <p:cNvPr id="8" name="Google Shape;133;p18">
            <a:extLst>
              <a:ext uri="{FF2B5EF4-FFF2-40B4-BE49-F238E27FC236}">
                <a16:creationId xmlns:a16="http://schemas.microsoft.com/office/drawing/2014/main" id="{8AF68B02-7758-40C3-B9B1-151583045834}"/>
              </a:ext>
            </a:extLst>
          </p:cNvPr>
          <p:cNvSpPr/>
          <p:nvPr/>
        </p:nvSpPr>
        <p:spPr>
          <a:xfrm>
            <a:off x="1230629" y="3705229"/>
            <a:ext cx="6682741" cy="1066493"/>
          </a:xfrm>
          <a:prstGeom prst="rect">
            <a:avLst/>
          </a:prstGeom>
          <a:solidFill>
            <a:schemeClr val="dk1"/>
          </a:solidFill>
          <a:ln w="12700" cap="flat" cmpd="sng">
            <a:solidFill>
              <a:schemeClr val="tx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sz="2000" b="1">
                <a:solidFill>
                  <a:schemeClr val="lt1"/>
                </a:solidFill>
                <a:latin typeface="MS PGothic"/>
                <a:ea typeface="MS PGothic"/>
                <a:cs typeface="MS PGothic"/>
                <a:sym typeface="MS PGothic"/>
              </a:rPr>
              <a:t>Javaの世界へようこそ！</a:t>
            </a:r>
            <a:endParaRPr/>
          </a:p>
          <a:p>
            <a:pPr marL="0" marR="0" lvl="0" indent="0" algn="l" rtl="0">
              <a:spcBef>
                <a:spcPts val="0"/>
              </a:spcBef>
              <a:spcAft>
                <a:spcPts val="0"/>
              </a:spcAft>
              <a:buNone/>
            </a:pPr>
            <a:r>
              <a:rPr lang="ja-JP" sz="2000" b="1">
                <a:solidFill>
                  <a:schemeClr val="lt1"/>
                </a:solidFill>
                <a:latin typeface="MS PGothic"/>
                <a:ea typeface="MS PGothic"/>
                <a:cs typeface="MS PGothic"/>
                <a:sym typeface="MS PGothic"/>
              </a:rPr>
              <a:t>こんな難しい計算もカンタンです！！</a:t>
            </a:r>
            <a:endParaRPr/>
          </a:p>
          <a:p>
            <a:pPr marL="0" marR="0" lvl="0" indent="0" algn="l" rtl="0">
              <a:spcBef>
                <a:spcPts val="0"/>
              </a:spcBef>
              <a:spcAft>
                <a:spcPts val="0"/>
              </a:spcAft>
              <a:buNone/>
            </a:pPr>
            <a:r>
              <a:rPr lang="ja-JP" sz="2000" b="1">
                <a:solidFill>
                  <a:schemeClr val="lt1"/>
                </a:solidFill>
                <a:latin typeface="MS PGothic"/>
                <a:ea typeface="MS PGothic"/>
                <a:cs typeface="MS PGothic"/>
                <a:sym typeface="MS PGothic"/>
              </a:rPr>
              <a:t>４＋５×６－１２３÷３＝-7</a:t>
            </a:r>
            <a:endParaRPr sz="2000" b="1">
              <a:solidFill>
                <a:schemeClr val="lt1"/>
              </a:solidFill>
              <a:latin typeface="MS PGothic"/>
              <a:ea typeface="MS PGothic"/>
              <a:cs typeface="MS PGothic"/>
              <a:sym typeface="MS PGothic"/>
            </a:endParaRPr>
          </a:p>
        </p:txBody>
      </p:sp>
    </p:spTree>
    <p:extLst>
      <p:ext uri="{BB962C8B-B14F-4D97-AF65-F5344CB8AC3E}">
        <p14:creationId xmlns:p14="http://schemas.microsoft.com/office/powerpoint/2010/main" val="2468282938"/>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solidFill>
            <a:schemeClr val="tx2"/>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743</TotalTime>
  <Words>820</Words>
  <Application>Microsoft Office PowerPoint</Application>
  <PresentationFormat>画面に合わせる (16:9)</PresentationFormat>
  <Paragraphs>81</Paragraphs>
  <Slides>9</Slides>
  <Notes>1</Notes>
  <HiddenSlides>1</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9</vt:i4>
      </vt:variant>
    </vt:vector>
  </HeadingPairs>
  <TitlesOfParts>
    <vt:vector size="17" baseType="lpstr">
      <vt:lpstr>BIZ UDゴシック</vt:lpstr>
      <vt:lpstr>MyricaM M</vt:lpstr>
      <vt:lpstr>Gill Sans Ultra Bold</vt:lpstr>
      <vt:lpstr>Arial</vt:lpstr>
      <vt:lpstr>MS PGothic</vt:lpstr>
      <vt:lpstr>Montserrat</vt:lpstr>
      <vt:lpstr>游ゴシック</vt:lpstr>
      <vt:lpstr>template</vt:lpstr>
      <vt:lpstr>改訂履歴</vt:lpstr>
      <vt:lpstr>Javaをはじめよう</vt:lpstr>
      <vt:lpstr>テキストの ゴール</vt:lpstr>
      <vt:lpstr>テキストの 流れ</vt:lpstr>
      <vt:lpstr>プログラムって？</vt:lpstr>
      <vt:lpstr>プログラミング言語って？</vt:lpstr>
      <vt:lpstr>Javaって？</vt:lpstr>
      <vt:lpstr>Javaの特徴</vt:lpstr>
      <vt:lpstr>Javaって？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26</cp:revision>
  <dcterms:created xsi:type="dcterms:W3CDTF">2020-11-26T07:05:51Z</dcterms:created>
  <dcterms:modified xsi:type="dcterms:W3CDTF">2025-03-19T07:51:15Z</dcterms:modified>
</cp:coreProperties>
</file>